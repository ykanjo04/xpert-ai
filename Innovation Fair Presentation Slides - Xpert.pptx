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Codec Pro" charset="1" panose="00000500000000000000"/>
      <p:regular r:id="rId17"/>
    </p:embeddedFont>
    <p:embeddedFont>
      <p:font typeface="DM Sans Bold" charset="1" panose="00000000000000000000"/>
      <p:regular r:id="rId18"/>
    </p:embeddedFont>
    <p:embeddedFont>
      <p:font typeface="Heebo Bold" charset="1" panose="00000800000000000000"/>
      <p:regular r:id="rId19"/>
    </p:embeddedFont>
    <p:embeddedFont>
      <p:font typeface="DM Sans" charset="1" panose="00000000000000000000"/>
      <p:regular r:id="rId20"/>
    </p:embeddedFont>
    <p:embeddedFont>
      <p:font typeface="Poppins Semi-Bold" charset="1" panose="00000700000000000000"/>
      <p:regular r:id="rId21"/>
    </p:embeddedFont>
    <p:embeddedFont>
      <p:font typeface="Poppins Semi-Bold Italics" charset="1" panose="00000700000000000000"/>
      <p:regular r:id="rId22"/>
    </p:embeddedFont>
    <p:embeddedFont>
      <p:font typeface="Poppins" charset="1" panose="00000500000000000000"/>
      <p:regular r:id="rId23"/>
    </p:embeddedFont>
    <p:embeddedFont>
      <p:font typeface="Codec Pro Bold" charset="1" panose="00000600000000000000"/>
      <p:regular r:id="rId24"/>
    </p:embeddedFont>
    <p:embeddedFont>
      <p:font typeface="Canva Sans" charset="1" panose="020B0503030501040103"/>
      <p:regular r:id="rId25"/>
    </p:embeddedFont>
    <p:embeddedFont>
      <p:font typeface="Computer Says No" charset="1" panose="000004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2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2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90402" y="6077958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2" y="0"/>
                </a:lnTo>
                <a:lnTo>
                  <a:pt x="100089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24810" y="7148416"/>
            <a:ext cx="4825046" cy="4219769"/>
          </a:xfrm>
          <a:custGeom>
            <a:avLst/>
            <a:gdLst/>
            <a:ahLst/>
            <a:cxnLst/>
            <a:rect r="r" b="b" t="t" l="l"/>
            <a:pathLst>
              <a:path h="4219769" w="4825046">
                <a:moveTo>
                  <a:pt x="0" y="0"/>
                </a:moveTo>
                <a:lnTo>
                  <a:pt x="4825046" y="0"/>
                </a:lnTo>
                <a:lnTo>
                  <a:pt x="4825046" y="4219768"/>
                </a:lnTo>
                <a:lnTo>
                  <a:pt x="0" y="421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61481" y="-411480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9551" y="667876"/>
            <a:ext cx="3948234" cy="1724379"/>
          </a:xfrm>
          <a:custGeom>
            <a:avLst/>
            <a:gdLst/>
            <a:ahLst/>
            <a:cxnLst/>
            <a:rect r="r" b="b" t="t" l="l"/>
            <a:pathLst>
              <a:path h="1724379" w="3948234">
                <a:moveTo>
                  <a:pt x="0" y="0"/>
                </a:moveTo>
                <a:lnTo>
                  <a:pt x="3948233" y="0"/>
                </a:lnTo>
                <a:lnTo>
                  <a:pt x="3948233" y="1724379"/>
                </a:lnTo>
                <a:lnTo>
                  <a:pt x="0" y="1724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93340" y="7716008"/>
            <a:ext cx="4729467" cy="4047169"/>
          </a:xfrm>
          <a:custGeom>
            <a:avLst/>
            <a:gdLst/>
            <a:ahLst/>
            <a:cxnLst/>
            <a:rect r="r" b="b" t="t" l="l"/>
            <a:pathLst>
              <a:path h="4047169" w="4729467">
                <a:moveTo>
                  <a:pt x="0" y="0"/>
                </a:moveTo>
                <a:lnTo>
                  <a:pt x="4729467" y="0"/>
                </a:lnTo>
                <a:lnTo>
                  <a:pt x="4729467" y="4047169"/>
                </a:lnTo>
                <a:lnTo>
                  <a:pt x="0" y="40471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42831">
            <a:off x="-623205" y="640914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74360" y="3286428"/>
            <a:ext cx="2455838" cy="2160228"/>
          </a:xfrm>
          <a:custGeom>
            <a:avLst/>
            <a:gdLst/>
            <a:ahLst/>
            <a:cxnLst/>
            <a:rect r="r" b="b" t="t" l="l"/>
            <a:pathLst>
              <a:path h="2160228" w="2455838">
                <a:moveTo>
                  <a:pt x="0" y="0"/>
                </a:moveTo>
                <a:lnTo>
                  <a:pt x="2455838" y="0"/>
                </a:lnTo>
                <a:lnTo>
                  <a:pt x="2455838" y="2160228"/>
                </a:lnTo>
                <a:lnTo>
                  <a:pt x="0" y="2160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7352" t="-48712" r="-39636" b="-524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67507" y="667876"/>
            <a:ext cx="4113916" cy="1331880"/>
          </a:xfrm>
          <a:custGeom>
            <a:avLst/>
            <a:gdLst/>
            <a:ahLst/>
            <a:cxnLst/>
            <a:rect r="r" b="b" t="t" l="l"/>
            <a:pathLst>
              <a:path h="1331880" w="4113916">
                <a:moveTo>
                  <a:pt x="0" y="0"/>
                </a:moveTo>
                <a:lnTo>
                  <a:pt x="4113917" y="0"/>
                </a:lnTo>
                <a:lnTo>
                  <a:pt x="4113917" y="1331880"/>
                </a:lnTo>
                <a:lnTo>
                  <a:pt x="0" y="13318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41242" y="2623358"/>
            <a:ext cx="6483568" cy="301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87"/>
              </a:lnSpc>
            </a:pPr>
            <a:r>
              <a:rPr lang="en-US" b="true" sz="1670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Xpert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46230" y="5827911"/>
            <a:ext cx="9933764" cy="135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1">
                <a:solidFill>
                  <a:srgbClr val="B4B4B4"/>
                </a:solidFill>
                <a:latin typeface="Codec Pro"/>
                <a:ea typeface="Codec Pro"/>
                <a:cs typeface="Codec Pro"/>
                <a:sym typeface="Codec Pro"/>
              </a:rPr>
              <a:t>Bridging the Expertise Gap in Pneumonia Diagosis through Explainable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25696" y="9547543"/>
            <a:ext cx="13252088" cy="40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830">
                <a:solidFill>
                  <a:srgbClr val="FFFFFF">
                    <a:alpha val="75686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Dubai Medical University Collaboration - IEEE SRC 2026 Published Paper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243702" y="3529999"/>
            <a:ext cx="924125" cy="946606"/>
          </a:xfrm>
          <a:custGeom>
            <a:avLst/>
            <a:gdLst/>
            <a:ahLst/>
            <a:cxnLst/>
            <a:rect r="r" b="b" t="t" l="l"/>
            <a:pathLst>
              <a:path h="946606" w="924125">
                <a:moveTo>
                  <a:pt x="0" y="946607"/>
                </a:moveTo>
                <a:lnTo>
                  <a:pt x="924124" y="946607"/>
                </a:lnTo>
                <a:lnTo>
                  <a:pt x="924124" y="0"/>
                </a:lnTo>
                <a:lnTo>
                  <a:pt x="0" y="0"/>
                </a:lnTo>
                <a:lnTo>
                  <a:pt x="0" y="946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2281694" y="3482845"/>
            <a:ext cx="924125" cy="946606"/>
          </a:xfrm>
          <a:custGeom>
            <a:avLst/>
            <a:gdLst/>
            <a:ahLst/>
            <a:cxnLst/>
            <a:rect r="r" b="b" t="t" l="l"/>
            <a:pathLst>
              <a:path h="946606" w="924125">
                <a:moveTo>
                  <a:pt x="0" y="946607"/>
                </a:moveTo>
                <a:lnTo>
                  <a:pt x="924124" y="946607"/>
                </a:lnTo>
                <a:lnTo>
                  <a:pt x="924124" y="0"/>
                </a:lnTo>
                <a:lnTo>
                  <a:pt x="0" y="0"/>
                </a:lnTo>
                <a:lnTo>
                  <a:pt x="0" y="946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775433" y="3442967"/>
            <a:ext cx="924125" cy="946606"/>
          </a:xfrm>
          <a:custGeom>
            <a:avLst/>
            <a:gdLst/>
            <a:ahLst/>
            <a:cxnLst/>
            <a:rect r="r" b="b" t="t" l="l"/>
            <a:pathLst>
              <a:path h="946606" w="924125">
                <a:moveTo>
                  <a:pt x="0" y="946606"/>
                </a:moveTo>
                <a:lnTo>
                  <a:pt x="924124" y="946606"/>
                </a:lnTo>
                <a:lnTo>
                  <a:pt x="924124" y="0"/>
                </a:lnTo>
                <a:lnTo>
                  <a:pt x="0" y="0"/>
                </a:lnTo>
                <a:lnTo>
                  <a:pt x="0" y="9466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52" t="-48712" r="-39636" b="-524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50125" y="4730616"/>
            <a:ext cx="4895429" cy="130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252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</a:t>
            </a:r>
            <a:r>
              <a:rPr lang="en-US" b="true" sz="25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aque “Black Box” AI algorithm fail to build user trust.</a:t>
            </a:r>
            <a:r>
              <a:rPr lang="en-US" b="true" sz="252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[1]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8748" y="3353131"/>
            <a:ext cx="4506807" cy="14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8"/>
              </a:lnSpc>
              <a:spcBef>
                <a:spcPct val="0"/>
              </a:spcBef>
            </a:pPr>
            <a:r>
              <a:rPr lang="en-US" b="true" sz="1078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2.3/5.</a:t>
            </a:r>
            <a:r>
              <a:rPr lang="en-US" b="true" sz="1078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15443" y="4773953"/>
            <a:ext cx="5606092" cy="122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</a:pPr>
            <a:r>
              <a:rPr lang="en-US" sz="2373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37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linicians report moderate confidence in manual early-stage pneumonia detection.</a:t>
            </a:r>
            <a:r>
              <a:rPr lang="en-US" b="true" sz="237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[1]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0892" y="3437912"/>
            <a:ext cx="4632378" cy="14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8"/>
              </a:lnSpc>
              <a:spcBef>
                <a:spcPct val="0"/>
              </a:spcBef>
            </a:pPr>
            <a:r>
              <a:rPr lang="en-US" b="true" sz="1078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3.0/5.0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3177" y="4815398"/>
            <a:ext cx="4263676" cy="124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Of</a:t>
            </a:r>
            <a:r>
              <a:rPr lang="en-US" b="true" sz="24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users </a:t>
            </a:r>
            <a:r>
              <a:rPr lang="en-US" b="true" sz="2401" u="sng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fail </a:t>
            </a:r>
            <a:r>
              <a:rPr lang="en-US" b="true" sz="24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 understand traditional X-ray explanations.</a:t>
            </a:r>
            <a:r>
              <a:rPr lang="en-US" b="true" sz="24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[1]</a:t>
            </a:r>
            <a:r>
              <a:rPr lang="en-US" sz="24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9083" y="3483617"/>
            <a:ext cx="4242042" cy="14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8"/>
              </a:lnSpc>
              <a:spcBef>
                <a:spcPct val="0"/>
              </a:spcBef>
            </a:pPr>
            <a:r>
              <a:rPr lang="en-US" b="true" sz="1078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83.3</a:t>
            </a:r>
            <a:r>
              <a:rPr lang="en-US" b="true" sz="10788" strike="noStrike" u="non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02327" y="1114425"/>
            <a:ext cx="13016333" cy="166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b="true" sz="647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Problem: The Diagnostic-Pedagogical Mismatch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9372" y="6931889"/>
            <a:ext cx="14489257" cy="181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</a:pPr>
            <a:r>
              <a:rPr lang="en-US" b="true" sz="4820">
                <a:solidFill>
                  <a:srgbClr val="B1F7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Pneumonia remains the leading infectious cause of death for children worldwide, claiming over 700,000 lives annually.</a:t>
            </a:r>
            <a:r>
              <a:rPr lang="en-US" b="true" sz="4820">
                <a:solidFill>
                  <a:srgbClr val="B1F7F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[2]</a:t>
            </a:r>
          </a:p>
        </p:txBody>
      </p:sp>
      <p:sp>
        <p:nvSpPr>
          <p:cNvPr name="AutoShape 14" id="14"/>
          <p:cNvSpPr/>
          <p:nvPr/>
        </p:nvSpPr>
        <p:spPr>
          <a:xfrm>
            <a:off x="3920104" y="6503264"/>
            <a:ext cx="110912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2325696" y="9547543"/>
            <a:ext cx="13252088" cy="40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830">
                <a:solidFill>
                  <a:srgbClr val="FFFFFF">
                    <a:alpha val="47843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Dubai Medical University Collaboration - IEEE SRC 2026 Published Paper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A8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0573" y="2488326"/>
            <a:ext cx="8523427" cy="2034968"/>
          </a:xfrm>
          <a:custGeom>
            <a:avLst/>
            <a:gdLst/>
            <a:ahLst/>
            <a:cxnLst/>
            <a:rect r="r" b="b" t="t" l="l"/>
            <a:pathLst>
              <a:path h="2034968" w="8523427">
                <a:moveTo>
                  <a:pt x="0" y="0"/>
                </a:moveTo>
                <a:lnTo>
                  <a:pt x="8523427" y="0"/>
                </a:lnTo>
                <a:lnTo>
                  <a:pt x="8523427" y="2034968"/>
                </a:lnTo>
                <a:lnTo>
                  <a:pt x="0" y="203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470683"/>
            <a:ext cx="8523427" cy="2034968"/>
          </a:xfrm>
          <a:custGeom>
            <a:avLst/>
            <a:gdLst/>
            <a:ahLst/>
            <a:cxnLst/>
            <a:rect r="r" b="b" t="t" l="l"/>
            <a:pathLst>
              <a:path h="2034968" w="8523427">
                <a:moveTo>
                  <a:pt x="0" y="0"/>
                </a:moveTo>
                <a:lnTo>
                  <a:pt x="8523427" y="0"/>
                </a:lnTo>
                <a:lnTo>
                  <a:pt x="8523427" y="2034969"/>
                </a:lnTo>
                <a:lnTo>
                  <a:pt x="0" y="203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1268" y="5230863"/>
            <a:ext cx="7448031" cy="4231041"/>
          </a:xfrm>
          <a:custGeom>
            <a:avLst/>
            <a:gdLst/>
            <a:ahLst/>
            <a:cxnLst/>
            <a:rect r="r" b="b" t="t" l="l"/>
            <a:pathLst>
              <a:path h="4231041" w="7448031">
                <a:moveTo>
                  <a:pt x="0" y="0"/>
                </a:moveTo>
                <a:lnTo>
                  <a:pt x="7448031" y="0"/>
                </a:lnTo>
                <a:lnTo>
                  <a:pt x="7448031" y="4231041"/>
                </a:lnTo>
                <a:lnTo>
                  <a:pt x="0" y="4231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85" t="-38592" r="-38561" b="-305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3894566" y="7355050"/>
            <a:ext cx="12570874" cy="6872078"/>
          </a:xfrm>
          <a:custGeom>
            <a:avLst/>
            <a:gdLst/>
            <a:ahLst/>
            <a:cxnLst/>
            <a:rect r="r" b="b" t="t" l="l"/>
            <a:pathLst>
              <a:path h="6872078" w="12570874">
                <a:moveTo>
                  <a:pt x="0" y="0"/>
                </a:moveTo>
                <a:lnTo>
                  <a:pt x="12570874" y="0"/>
                </a:lnTo>
                <a:lnTo>
                  <a:pt x="12570874" y="6872077"/>
                </a:lnTo>
                <a:lnTo>
                  <a:pt x="0" y="6872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8338" y="606452"/>
            <a:ext cx="8925662" cy="95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b="true" sz="6981" i="true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The Xpert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338" y="1618694"/>
            <a:ext cx="13985811" cy="57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2"/>
              </a:lnSpc>
            </a:pPr>
            <a:r>
              <a:rPr lang="en-US" sz="4160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Bridging t</a:t>
            </a:r>
            <a:r>
              <a:rPr lang="en-US" sz="4160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 Gap through Dual-Engine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4420" y="2754397"/>
            <a:ext cx="7515734" cy="150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302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Xpert </a:t>
            </a: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a medical diagnostic and pedagogical platform design</a:t>
            </a:r>
            <a:r>
              <a:rPr lang="en-US" sz="30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to harmonize high-precision AI with human-centered education.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2667" y="2754397"/>
            <a:ext cx="7986093" cy="117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31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solve the trust crisis by moving beyond "Black Box" predictions</a:t>
            </a:r>
            <a:r>
              <a:rPr lang="en-US" sz="31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providing evidence-based insights.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308449" y="5401143"/>
            <a:ext cx="5918640" cy="83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3"/>
              </a:lnSpc>
            </a:pPr>
            <a:r>
              <a:rPr lang="en-US" sz="326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Diagnostic Engine (Clinic</a:t>
            </a:r>
            <a:r>
              <a:rPr lang="en-US" b="true" sz="326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 Vision)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407" y="8406460"/>
            <a:ext cx="5010929" cy="137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27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Detection: 0.94 AUC-ROC Accuracy (Clinical-Grade DenseNet-121).</a:t>
            </a:r>
          </a:p>
          <a:p>
            <a:pPr algn="ctr">
              <a:lnSpc>
                <a:spcPts val="262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5407" y="6630418"/>
            <a:ext cx="5010929" cy="137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27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Isolation: 98.7% Lung Field Segmentation (via Custom Residual-CBAM U-Net).</a:t>
            </a:r>
          </a:p>
          <a:p>
            <a:pPr algn="ctr">
              <a:lnSpc>
                <a:spcPts val="2627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5400000">
            <a:off x="10158013" y="7355050"/>
            <a:ext cx="12570874" cy="6872078"/>
          </a:xfrm>
          <a:custGeom>
            <a:avLst/>
            <a:gdLst/>
            <a:ahLst/>
            <a:cxnLst/>
            <a:rect r="r" b="b" t="t" l="l"/>
            <a:pathLst>
              <a:path h="6872078" w="12570874">
                <a:moveTo>
                  <a:pt x="0" y="0"/>
                </a:moveTo>
                <a:lnTo>
                  <a:pt x="12570874" y="0"/>
                </a:lnTo>
                <a:lnTo>
                  <a:pt x="12570874" y="6872077"/>
                </a:lnTo>
                <a:lnTo>
                  <a:pt x="0" y="6872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07411" y="5391618"/>
            <a:ext cx="5600339" cy="11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30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Pedagogical Engine (Adaptive</a:t>
            </a:r>
            <a:r>
              <a:rPr lang="en-US" b="true" sz="309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Learning)</a:t>
            </a:r>
          </a:p>
          <a:p>
            <a:pPr algn="ctr">
              <a:lnSpc>
                <a:spcPts val="2936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3091052">
            <a:off x="14861119" y="-2922640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4" y="0"/>
                </a:lnTo>
                <a:lnTo>
                  <a:pt x="6638824" y="5976179"/>
                </a:lnTo>
                <a:lnTo>
                  <a:pt x="0" y="5976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43450" y="362515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5" y="0"/>
                </a:lnTo>
                <a:lnTo>
                  <a:pt x="1367955" y="1203293"/>
                </a:lnTo>
                <a:lnTo>
                  <a:pt x="0" y="120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52" t="-48712" r="-39636" b="-5249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81636" y="6600602"/>
            <a:ext cx="4251889" cy="170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27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Grounding: Medically grounded feedback using Gemini 2.5 Flash + RAG.</a:t>
            </a:r>
          </a:p>
          <a:p>
            <a:pPr algn="ctr">
              <a:lnSpc>
                <a:spcPts val="262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681636" y="8240690"/>
            <a:ext cx="4251889" cy="170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27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Grounding: Medically grounded feedback using Gemini 2.5 Flash + RAG.</a:t>
            </a:r>
          </a:p>
          <a:p>
            <a:pPr algn="ctr">
              <a:lnSpc>
                <a:spcPts val="2627"/>
              </a:lnSpc>
            </a:pPr>
          </a:p>
        </p:txBody>
      </p:sp>
      <p:sp>
        <p:nvSpPr>
          <p:cNvPr name="AutoShape 19" id="19"/>
          <p:cNvSpPr/>
          <p:nvPr/>
        </p:nvSpPr>
        <p:spPr>
          <a:xfrm>
            <a:off x="620573" y="6333434"/>
            <a:ext cx="37499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061438" y="6276085"/>
            <a:ext cx="37499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1271" y="-3708211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11039" y="463618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4127" y="2226251"/>
            <a:ext cx="5522550" cy="7306540"/>
            <a:chOff x="0" y="0"/>
            <a:chExt cx="7363400" cy="97420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63400" cy="6442791"/>
            </a:xfrm>
            <a:custGeom>
              <a:avLst/>
              <a:gdLst/>
              <a:ahLst/>
              <a:cxnLst/>
              <a:rect r="r" b="b" t="t" l="l"/>
              <a:pathLst>
                <a:path h="6442791" w="7363400">
                  <a:moveTo>
                    <a:pt x="0" y="0"/>
                  </a:moveTo>
                  <a:lnTo>
                    <a:pt x="7363400" y="0"/>
                  </a:lnTo>
                  <a:lnTo>
                    <a:pt x="7363400" y="6442791"/>
                  </a:lnTo>
                  <a:lnTo>
                    <a:pt x="0" y="644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" t="0" r="-431" b="-1513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442791"/>
              <a:ext cx="7155363" cy="3299262"/>
            </a:xfrm>
            <a:custGeom>
              <a:avLst/>
              <a:gdLst/>
              <a:ahLst/>
              <a:cxnLst/>
              <a:rect r="r" b="b" t="t" l="l"/>
              <a:pathLst>
                <a:path h="3299262" w="7155363">
                  <a:moveTo>
                    <a:pt x="0" y="0"/>
                  </a:moveTo>
                  <a:lnTo>
                    <a:pt x="7155363" y="0"/>
                  </a:lnTo>
                  <a:lnTo>
                    <a:pt x="7155363" y="3299262"/>
                  </a:lnTo>
                  <a:lnTo>
                    <a:pt x="0" y="3299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" t="-124829" r="-336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42722" y="2226251"/>
            <a:ext cx="5608585" cy="7306540"/>
            <a:chOff x="0" y="0"/>
            <a:chExt cx="7478113" cy="97420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8113" cy="6442791"/>
            </a:xfrm>
            <a:custGeom>
              <a:avLst/>
              <a:gdLst/>
              <a:ahLst/>
              <a:cxnLst/>
              <a:rect r="r" b="b" t="t" l="l"/>
              <a:pathLst>
                <a:path h="6442791" w="7478113">
                  <a:moveTo>
                    <a:pt x="0" y="0"/>
                  </a:moveTo>
                  <a:lnTo>
                    <a:pt x="7478113" y="0"/>
                  </a:lnTo>
                  <a:lnTo>
                    <a:pt x="7478113" y="6442791"/>
                  </a:lnTo>
                  <a:lnTo>
                    <a:pt x="0" y="644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4" r="0" b="-1558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442791"/>
              <a:ext cx="7266835" cy="3299262"/>
            </a:xfrm>
            <a:custGeom>
              <a:avLst/>
              <a:gdLst/>
              <a:ahLst/>
              <a:cxnLst/>
              <a:rect r="r" b="b" t="t" l="l"/>
              <a:pathLst>
                <a:path h="3299262" w="7266835">
                  <a:moveTo>
                    <a:pt x="0" y="0"/>
                  </a:moveTo>
                  <a:lnTo>
                    <a:pt x="7266835" y="0"/>
                  </a:lnTo>
                  <a:lnTo>
                    <a:pt x="7266835" y="3299262"/>
                  </a:lnTo>
                  <a:lnTo>
                    <a:pt x="0" y="3299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6032" r="-2907" b="-34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51306" y="2226251"/>
            <a:ext cx="5522550" cy="7306540"/>
            <a:chOff x="0" y="0"/>
            <a:chExt cx="7363400" cy="97420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3400" cy="6442791"/>
            </a:xfrm>
            <a:custGeom>
              <a:avLst/>
              <a:gdLst/>
              <a:ahLst/>
              <a:cxnLst/>
              <a:rect r="r" b="b" t="t" l="l"/>
              <a:pathLst>
                <a:path h="6442791" w="7363400">
                  <a:moveTo>
                    <a:pt x="0" y="0"/>
                  </a:moveTo>
                  <a:lnTo>
                    <a:pt x="7363400" y="0"/>
                  </a:lnTo>
                  <a:lnTo>
                    <a:pt x="7363400" y="6442791"/>
                  </a:lnTo>
                  <a:lnTo>
                    <a:pt x="0" y="644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" t="0" r="-431" b="-15132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442791"/>
              <a:ext cx="7155363" cy="3299262"/>
            </a:xfrm>
            <a:custGeom>
              <a:avLst/>
              <a:gdLst/>
              <a:ahLst/>
              <a:cxnLst/>
              <a:rect r="r" b="b" t="t" l="l"/>
              <a:pathLst>
                <a:path h="3299262" w="7155363">
                  <a:moveTo>
                    <a:pt x="0" y="0"/>
                  </a:moveTo>
                  <a:lnTo>
                    <a:pt x="7155363" y="0"/>
                  </a:lnTo>
                  <a:lnTo>
                    <a:pt x="7155363" y="3299262"/>
                  </a:lnTo>
                  <a:lnTo>
                    <a:pt x="0" y="3299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" t="-124829" r="-336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9192" y="2536418"/>
            <a:ext cx="3715310" cy="664405"/>
            <a:chOff x="0" y="0"/>
            <a:chExt cx="1005336" cy="1797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336" cy="179783"/>
            </a:xfrm>
            <a:custGeom>
              <a:avLst/>
              <a:gdLst/>
              <a:ahLst/>
              <a:cxnLst/>
              <a:rect r="r" b="b" t="t" l="l"/>
              <a:pathLst>
                <a:path h="179783" w="1005336">
                  <a:moveTo>
                    <a:pt x="89892" y="0"/>
                  </a:moveTo>
                  <a:lnTo>
                    <a:pt x="915445" y="0"/>
                  </a:lnTo>
                  <a:cubicBezTo>
                    <a:pt x="965091" y="0"/>
                    <a:pt x="1005336" y="40246"/>
                    <a:pt x="1005336" y="89892"/>
                  </a:cubicBezTo>
                  <a:lnTo>
                    <a:pt x="1005336" y="89892"/>
                  </a:lnTo>
                  <a:cubicBezTo>
                    <a:pt x="1005336" y="113732"/>
                    <a:pt x="995866" y="136597"/>
                    <a:pt x="979008" y="153455"/>
                  </a:cubicBezTo>
                  <a:cubicBezTo>
                    <a:pt x="962150" y="170313"/>
                    <a:pt x="939285" y="179783"/>
                    <a:pt x="915445" y="179783"/>
                  </a:cubicBezTo>
                  <a:lnTo>
                    <a:pt x="89892" y="179783"/>
                  </a:lnTo>
                  <a:cubicBezTo>
                    <a:pt x="66051" y="179783"/>
                    <a:pt x="43187" y="170313"/>
                    <a:pt x="26329" y="153455"/>
                  </a:cubicBezTo>
                  <a:cubicBezTo>
                    <a:pt x="9471" y="136597"/>
                    <a:pt x="0" y="113732"/>
                    <a:pt x="0" y="89892"/>
                  </a:cubicBezTo>
                  <a:lnTo>
                    <a:pt x="0" y="89892"/>
                  </a:lnTo>
                  <a:cubicBezTo>
                    <a:pt x="0" y="66051"/>
                    <a:pt x="9471" y="43187"/>
                    <a:pt x="26329" y="26329"/>
                  </a:cubicBezTo>
                  <a:cubicBezTo>
                    <a:pt x="43187" y="9471"/>
                    <a:pt x="66051" y="0"/>
                    <a:pt x="89892" y="0"/>
                  </a:cubicBezTo>
                  <a:close/>
                </a:path>
              </a:pathLst>
            </a:custGeom>
            <a:solidFill>
              <a:srgbClr val="2528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05336" cy="227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036016" y="395773"/>
            <a:ext cx="8952020" cy="87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4"/>
              </a:lnSpc>
            </a:pPr>
            <a:r>
              <a:rPr lang="en-US" sz="6372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Dual-E</a:t>
            </a:r>
            <a:r>
              <a:rPr lang="en-US" b="true" sz="637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ngine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96084" y="1329315"/>
            <a:ext cx="11895831" cy="56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</a:pPr>
            <a:r>
              <a:rPr lang="en-US" sz="4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RAW PIXELS TO CLINICAL</a:t>
            </a:r>
            <a:r>
              <a:rPr lang="en-US" sz="4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GROUNDING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7570" y="2700031"/>
            <a:ext cx="3623897" cy="39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7"/>
              </a:lnSpc>
            </a:pPr>
            <a:r>
              <a:rPr lang="en-US" sz="29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Phase 01: Vision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6587" y="3497544"/>
            <a:ext cx="4589940" cy="50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5"/>
              </a:lnSpc>
            </a:pPr>
            <a:r>
              <a:rPr lang="en-US" sz="37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Diagonstic Vision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6587" y="4205835"/>
            <a:ext cx="4719486" cy="12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Gate: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Spatial normalization &amp; denoising.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9192" y="5722242"/>
            <a:ext cx="4719486" cy="12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solation: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Residual-CBAM-ASPP Segmentation.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7213" y="7649058"/>
            <a:ext cx="2217206" cy="77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7"/>
              </a:lnSpc>
            </a:pPr>
            <a:r>
              <a:rPr lang="en-US" sz="57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98.7%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7213" y="8412308"/>
            <a:ext cx="4648860" cy="29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2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Segmentation Accuracy (DSC)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279192" y="7350102"/>
            <a:ext cx="44471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950551" y="2590355"/>
            <a:ext cx="4736880" cy="664405"/>
            <a:chOff x="0" y="0"/>
            <a:chExt cx="1281766" cy="1797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1766" cy="179783"/>
            </a:xfrm>
            <a:custGeom>
              <a:avLst/>
              <a:gdLst/>
              <a:ahLst/>
              <a:cxnLst/>
              <a:rect r="r" b="b" t="t" l="l"/>
              <a:pathLst>
                <a:path h="179783" w="1281766">
                  <a:moveTo>
                    <a:pt x="83354" y="0"/>
                  </a:moveTo>
                  <a:lnTo>
                    <a:pt x="1198412" y="0"/>
                  </a:lnTo>
                  <a:cubicBezTo>
                    <a:pt x="1220519" y="0"/>
                    <a:pt x="1241720" y="8782"/>
                    <a:pt x="1257352" y="24414"/>
                  </a:cubicBezTo>
                  <a:cubicBezTo>
                    <a:pt x="1272984" y="40046"/>
                    <a:pt x="1281766" y="61247"/>
                    <a:pt x="1281766" y="83354"/>
                  </a:cubicBezTo>
                  <a:lnTo>
                    <a:pt x="1281766" y="96429"/>
                  </a:lnTo>
                  <a:cubicBezTo>
                    <a:pt x="1281766" y="118536"/>
                    <a:pt x="1272984" y="139737"/>
                    <a:pt x="1257352" y="155369"/>
                  </a:cubicBezTo>
                  <a:cubicBezTo>
                    <a:pt x="1241720" y="171001"/>
                    <a:pt x="1220519" y="179783"/>
                    <a:pt x="1198412" y="179783"/>
                  </a:cubicBezTo>
                  <a:lnTo>
                    <a:pt x="83354" y="179783"/>
                  </a:lnTo>
                  <a:cubicBezTo>
                    <a:pt x="61247" y="179783"/>
                    <a:pt x="40046" y="171001"/>
                    <a:pt x="24414" y="155369"/>
                  </a:cubicBezTo>
                  <a:cubicBezTo>
                    <a:pt x="8782" y="139737"/>
                    <a:pt x="0" y="118536"/>
                    <a:pt x="0" y="96429"/>
                  </a:cubicBezTo>
                  <a:lnTo>
                    <a:pt x="0" y="83354"/>
                  </a:lnTo>
                  <a:cubicBezTo>
                    <a:pt x="0" y="61247"/>
                    <a:pt x="8782" y="40046"/>
                    <a:pt x="24414" y="24414"/>
                  </a:cubicBezTo>
                  <a:cubicBezTo>
                    <a:pt x="40046" y="8782"/>
                    <a:pt x="61247" y="0"/>
                    <a:pt x="83354" y="0"/>
                  </a:cubicBezTo>
                  <a:close/>
                </a:path>
              </a:pathLst>
            </a:custGeom>
            <a:solidFill>
              <a:srgbClr val="2528B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81766" cy="227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1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108929" y="2753967"/>
            <a:ext cx="5042377" cy="39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7"/>
              </a:lnSpc>
            </a:pPr>
            <a:r>
              <a:rPr lang="en-US" sz="29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Phase 02: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67946" y="3551480"/>
            <a:ext cx="4589940" cy="50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5"/>
              </a:lnSpc>
            </a:pPr>
            <a:r>
              <a:rPr lang="en-US" sz="37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Deep Analytics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67946" y="4259771"/>
            <a:ext cx="4719486" cy="161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Classification: 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DenseNet-121 Pathogen Detection.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950551" y="5776178"/>
            <a:ext cx="4719486" cy="12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Explainability: 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Grad-CAM Visual Evidence.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038572" y="7702994"/>
            <a:ext cx="2217206" cy="77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7"/>
              </a:lnSpc>
            </a:pPr>
            <a:r>
              <a:rPr lang="en-US" sz="57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0.94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38572" y="8466244"/>
            <a:ext cx="4648860" cy="29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2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Diagnostic AUC-ROC Score</a:t>
            </a:r>
          </a:p>
        </p:txBody>
      </p:sp>
      <p:sp>
        <p:nvSpPr>
          <p:cNvPr name="AutoShape 35" id="35"/>
          <p:cNvSpPr/>
          <p:nvPr/>
        </p:nvSpPr>
        <p:spPr>
          <a:xfrm>
            <a:off x="6950551" y="7404038"/>
            <a:ext cx="44471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2614852" y="2590355"/>
            <a:ext cx="4736880" cy="664405"/>
            <a:chOff x="0" y="0"/>
            <a:chExt cx="1281766" cy="179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766" cy="179783"/>
            </a:xfrm>
            <a:custGeom>
              <a:avLst/>
              <a:gdLst/>
              <a:ahLst/>
              <a:cxnLst/>
              <a:rect r="r" b="b" t="t" l="l"/>
              <a:pathLst>
                <a:path h="179783" w="1281766">
                  <a:moveTo>
                    <a:pt x="83354" y="0"/>
                  </a:moveTo>
                  <a:lnTo>
                    <a:pt x="1198412" y="0"/>
                  </a:lnTo>
                  <a:cubicBezTo>
                    <a:pt x="1220519" y="0"/>
                    <a:pt x="1241720" y="8782"/>
                    <a:pt x="1257352" y="24414"/>
                  </a:cubicBezTo>
                  <a:cubicBezTo>
                    <a:pt x="1272984" y="40046"/>
                    <a:pt x="1281766" y="61247"/>
                    <a:pt x="1281766" y="83354"/>
                  </a:cubicBezTo>
                  <a:lnTo>
                    <a:pt x="1281766" y="96429"/>
                  </a:lnTo>
                  <a:cubicBezTo>
                    <a:pt x="1281766" y="118536"/>
                    <a:pt x="1272984" y="139737"/>
                    <a:pt x="1257352" y="155369"/>
                  </a:cubicBezTo>
                  <a:cubicBezTo>
                    <a:pt x="1241720" y="171001"/>
                    <a:pt x="1220519" y="179783"/>
                    <a:pt x="1198412" y="179783"/>
                  </a:cubicBezTo>
                  <a:lnTo>
                    <a:pt x="83354" y="179783"/>
                  </a:lnTo>
                  <a:cubicBezTo>
                    <a:pt x="61247" y="179783"/>
                    <a:pt x="40046" y="171001"/>
                    <a:pt x="24414" y="155369"/>
                  </a:cubicBezTo>
                  <a:cubicBezTo>
                    <a:pt x="8782" y="139737"/>
                    <a:pt x="0" y="118536"/>
                    <a:pt x="0" y="96429"/>
                  </a:cubicBezTo>
                  <a:lnTo>
                    <a:pt x="0" y="83354"/>
                  </a:lnTo>
                  <a:cubicBezTo>
                    <a:pt x="0" y="61247"/>
                    <a:pt x="8782" y="40046"/>
                    <a:pt x="24414" y="24414"/>
                  </a:cubicBezTo>
                  <a:cubicBezTo>
                    <a:pt x="40046" y="8782"/>
                    <a:pt x="61247" y="0"/>
                    <a:pt x="83354" y="0"/>
                  </a:cubicBezTo>
                  <a:close/>
                </a:path>
              </a:pathLst>
            </a:custGeom>
            <a:solidFill>
              <a:srgbClr val="2528B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81766" cy="227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1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773230" y="2753967"/>
            <a:ext cx="5042377" cy="39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7"/>
              </a:lnSpc>
            </a:pPr>
            <a:r>
              <a:rPr lang="en-US" sz="29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Phase 03: PEDAGOGY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73107" y="3497544"/>
            <a:ext cx="5586819" cy="50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5"/>
              </a:lnSpc>
            </a:pPr>
            <a:r>
              <a:rPr lang="en-US" sz="37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Feedback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3394" y="4335520"/>
            <a:ext cx="4719486" cy="12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RAG Engine: 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Gemini 2.5 Flash Grounding.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2633394" y="5717571"/>
            <a:ext cx="4719486" cy="12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UI Layer: </a:t>
            </a: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&lt; 3.0s End-to-End Latency.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702872" y="7702994"/>
            <a:ext cx="2217206" cy="77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7"/>
              </a:lnSpc>
            </a:pPr>
            <a:r>
              <a:rPr lang="en-US" sz="57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+75%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702872" y="8466244"/>
            <a:ext cx="4648860" cy="29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2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in User Trust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2614852" y="7404038"/>
            <a:ext cx="44471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52" t="-48712" r="-39636" b="-5249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5996" y="-2163135"/>
            <a:ext cx="6613789" cy="5640759"/>
          </a:xfrm>
          <a:custGeom>
            <a:avLst/>
            <a:gdLst/>
            <a:ahLst/>
            <a:cxnLst/>
            <a:rect r="r" b="b" t="t" l="l"/>
            <a:pathLst>
              <a:path h="5640759" w="6613789">
                <a:moveTo>
                  <a:pt x="0" y="0"/>
                </a:moveTo>
                <a:lnTo>
                  <a:pt x="6613790" y="0"/>
                </a:lnTo>
                <a:lnTo>
                  <a:pt x="6613790" y="5640759"/>
                </a:lnTo>
                <a:lnTo>
                  <a:pt x="0" y="564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99916" y="2985332"/>
            <a:ext cx="8328419" cy="4777080"/>
            <a:chOff x="0" y="0"/>
            <a:chExt cx="7981950" cy="45783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14686" t="0" r="-14686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820119" y="3190563"/>
            <a:ext cx="9139376" cy="4364052"/>
          </a:xfrm>
          <a:custGeom>
            <a:avLst/>
            <a:gdLst/>
            <a:ahLst/>
            <a:cxnLst/>
            <a:rect r="r" b="b" t="t" l="l"/>
            <a:pathLst>
              <a:path h="4364052" w="9139376">
                <a:moveTo>
                  <a:pt x="0" y="0"/>
                </a:moveTo>
                <a:lnTo>
                  <a:pt x="9139375" y="0"/>
                </a:lnTo>
                <a:lnTo>
                  <a:pt x="9139375" y="4364051"/>
                </a:lnTo>
                <a:lnTo>
                  <a:pt x="0" y="4364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11233" y="771544"/>
            <a:ext cx="12465535" cy="112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7"/>
              </a:lnSpc>
            </a:pPr>
            <a:r>
              <a:rPr lang="en-US" sz="8218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Teacher On The 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7234" y="1974282"/>
            <a:ext cx="11773532" cy="62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46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Xpert is a mentor, not just a calculator.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7234" y="8199279"/>
            <a:ext cx="12423212" cy="17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35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Xpert uses Gemini 2.5 Flash to plain why it found pneumonia. It references medical literature so students learn while they work.</a:t>
            </a:r>
          </a:p>
          <a:p>
            <a:pPr algn="ctr">
              <a:lnSpc>
                <a:spcPts val="3337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52" t="-48712" r="-39636" b="-5249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20763">
            <a:off x="-429086" y="-676113"/>
            <a:ext cx="8987203" cy="4150026"/>
          </a:xfrm>
          <a:custGeom>
            <a:avLst/>
            <a:gdLst/>
            <a:ahLst/>
            <a:cxnLst/>
            <a:rect r="r" b="b" t="t" l="l"/>
            <a:pathLst>
              <a:path h="4150026" w="8987203">
                <a:moveTo>
                  <a:pt x="0" y="0"/>
                </a:moveTo>
                <a:lnTo>
                  <a:pt x="8987203" y="0"/>
                </a:lnTo>
                <a:lnTo>
                  <a:pt x="8987203" y="4150027"/>
                </a:lnTo>
                <a:lnTo>
                  <a:pt x="0" y="4150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14383" y="4611077"/>
            <a:ext cx="2965916" cy="6828198"/>
          </a:xfrm>
          <a:custGeom>
            <a:avLst/>
            <a:gdLst/>
            <a:ahLst/>
            <a:cxnLst/>
            <a:rect r="r" b="b" t="t" l="l"/>
            <a:pathLst>
              <a:path h="6828198" w="2965916">
                <a:moveTo>
                  <a:pt x="0" y="0"/>
                </a:moveTo>
                <a:lnTo>
                  <a:pt x="2965916" y="0"/>
                </a:lnTo>
                <a:lnTo>
                  <a:pt x="2965916" y="6828199"/>
                </a:lnTo>
                <a:lnTo>
                  <a:pt x="0" y="6828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57066" y="8258141"/>
            <a:ext cx="4171532" cy="3569725"/>
          </a:xfrm>
          <a:custGeom>
            <a:avLst/>
            <a:gdLst/>
            <a:ahLst/>
            <a:cxnLst/>
            <a:rect r="r" b="b" t="t" l="l"/>
            <a:pathLst>
              <a:path h="3569725" w="4171532">
                <a:moveTo>
                  <a:pt x="0" y="0"/>
                </a:moveTo>
                <a:lnTo>
                  <a:pt x="4171532" y="0"/>
                </a:lnTo>
                <a:lnTo>
                  <a:pt x="4171532" y="3569724"/>
                </a:lnTo>
                <a:lnTo>
                  <a:pt x="0" y="3569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41740" y="-4440594"/>
            <a:ext cx="8339294" cy="7136224"/>
          </a:xfrm>
          <a:custGeom>
            <a:avLst/>
            <a:gdLst/>
            <a:ahLst/>
            <a:cxnLst/>
            <a:rect r="r" b="b" t="t" l="l"/>
            <a:pathLst>
              <a:path h="7136224" w="8339294">
                <a:moveTo>
                  <a:pt x="0" y="0"/>
                </a:moveTo>
                <a:lnTo>
                  <a:pt x="8339295" y="0"/>
                </a:lnTo>
                <a:lnTo>
                  <a:pt x="8339295" y="7136224"/>
                </a:lnTo>
                <a:lnTo>
                  <a:pt x="0" y="7136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52" t="-48712" r="-39636" b="-524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6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57968" y="655055"/>
            <a:ext cx="14154196" cy="108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1"/>
              </a:lnSpc>
            </a:pPr>
            <a:r>
              <a:rPr lang="en-US" b="true" sz="7527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Competitor Analysis Table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39807" y="2113262"/>
            <a:ext cx="3178001" cy="599429"/>
            <a:chOff x="0" y="0"/>
            <a:chExt cx="891761" cy="1682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1761" cy="168202"/>
            </a:xfrm>
            <a:custGeom>
              <a:avLst/>
              <a:gdLst/>
              <a:ahLst/>
              <a:cxnLst/>
              <a:rect r="r" b="b" t="t" l="l"/>
              <a:pathLst>
                <a:path h="168202" w="891761">
                  <a:moveTo>
                    <a:pt x="84101" y="0"/>
                  </a:moveTo>
                  <a:lnTo>
                    <a:pt x="807660" y="0"/>
                  </a:lnTo>
                  <a:cubicBezTo>
                    <a:pt x="829965" y="0"/>
                    <a:pt x="851356" y="8861"/>
                    <a:pt x="867128" y="24633"/>
                  </a:cubicBezTo>
                  <a:cubicBezTo>
                    <a:pt x="882900" y="40405"/>
                    <a:pt x="891761" y="61796"/>
                    <a:pt x="891761" y="84101"/>
                  </a:cubicBezTo>
                  <a:lnTo>
                    <a:pt x="891761" y="84101"/>
                  </a:lnTo>
                  <a:cubicBezTo>
                    <a:pt x="891761" y="106406"/>
                    <a:pt x="882900" y="127798"/>
                    <a:pt x="867128" y="143570"/>
                  </a:cubicBezTo>
                  <a:cubicBezTo>
                    <a:pt x="851356" y="159342"/>
                    <a:pt x="829965" y="168202"/>
                    <a:pt x="807660" y="168202"/>
                  </a:cubicBezTo>
                  <a:lnTo>
                    <a:pt x="84101" y="168202"/>
                  </a:lnTo>
                  <a:cubicBezTo>
                    <a:pt x="61796" y="168202"/>
                    <a:pt x="40405" y="159342"/>
                    <a:pt x="24633" y="143570"/>
                  </a:cubicBezTo>
                  <a:cubicBezTo>
                    <a:pt x="8861" y="127798"/>
                    <a:pt x="0" y="106406"/>
                    <a:pt x="0" y="84101"/>
                  </a:cubicBezTo>
                  <a:lnTo>
                    <a:pt x="0" y="84101"/>
                  </a:lnTo>
                  <a:cubicBezTo>
                    <a:pt x="0" y="61796"/>
                    <a:pt x="8861" y="40405"/>
                    <a:pt x="24633" y="24633"/>
                  </a:cubicBezTo>
                  <a:cubicBezTo>
                    <a:pt x="40405" y="8861"/>
                    <a:pt x="61796" y="0"/>
                    <a:pt x="8410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91761" cy="206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eature / Domain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37033" y="2113262"/>
            <a:ext cx="3178001" cy="599429"/>
            <a:chOff x="0" y="0"/>
            <a:chExt cx="891761" cy="1682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1761" cy="168202"/>
            </a:xfrm>
            <a:custGeom>
              <a:avLst/>
              <a:gdLst/>
              <a:ahLst/>
              <a:cxnLst/>
              <a:rect r="r" b="b" t="t" l="l"/>
              <a:pathLst>
                <a:path h="168202" w="891761">
                  <a:moveTo>
                    <a:pt x="84101" y="0"/>
                  </a:moveTo>
                  <a:lnTo>
                    <a:pt x="807660" y="0"/>
                  </a:lnTo>
                  <a:cubicBezTo>
                    <a:pt x="829965" y="0"/>
                    <a:pt x="851356" y="8861"/>
                    <a:pt x="867128" y="24633"/>
                  </a:cubicBezTo>
                  <a:cubicBezTo>
                    <a:pt x="882900" y="40405"/>
                    <a:pt x="891761" y="61796"/>
                    <a:pt x="891761" y="84101"/>
                  </a:cubicBezTo>
                  <a:lnTo>
                    <a:pt x="891761" y="84101"/>
                  </a:lnTo>
                  <a:cubicBezTo>
                    <a:pt x="891761" y="106406"/>
                    <a:pt x="882900" y="127798"/>
                    <a:pt x="867128" y="143570"/>
                  </a:cubicBezTo>
                  <a:cubicBezTo>
                    <a:pt x="851356" y="159342"/>
                    <a:pt x="829965" y="168202"/>
                    <a:pt x="807660" y="168202"/>
                  </a:cubicBezTo>
                  <a:lnTo>
                    <a:pt x="84101" y="168202"/>
                  </a:lnTo>
                  <a:cubicBezTo>
                    <a:pt x="61796" y="168202"/>
                    <a:pt x="40405" y="159342"/>
                    <a:pt x="24633" y="143570"/>
                  </a:cubicBezTo>
                  <a:cubicBezTo>
                    <a:pt x="8861" y="127798"/>
                    <a:pt x="0" y="106406"/>
                    <a:pt x="0" y="84101"/>
                  </a:cubicBezTo>
                  <a:lnTo>
                    <a:pt x="0" y="84101"/>
                  </a:lnTo>
                  <a:cubicBezTo>
                    <a:pt x="0" y="61796"/>
                    <a:pt x="8861" y="40405"/>
                    <a:pt x="24633" y="24633"/>
                  </a:cubicBezTo>
                  <a:cubicBezTo>
                    <a:pt x="40405" y="8861"/>
                    <a:pt x="61796" y="0"/>
                    <a:pt x="8410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91761" cy="206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Xpert (Proposed System)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30131" y="2113262"/>
            <a:ext cx="3178001" cy="820096"/>
            <a:chOff x="0" y="0"/>
            <a:chExt cx="891761" cy="2301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1761" cy="230123"/>
            </a:xfrm>
            <a:custGeom>
              <a:avLst/>
              <a:gdLst/>
              <a:ahLst/>
              <a:cxnLst/>
              <a:rect r="r" b="b" t="t" l="l"/>
              <a:pathLst>
                <a:path h="230123" w="891761">
                  <a:moveTo>
                    <a:pt x="115061" y="0"/>
                  </a:moveTo>
                  <a:lnTo>
                    <a:pt x="776700" y="0"/>
                  </a:lnTo>
                  <a:cubicBezTo>
                    <a:pt x="807216" y="0"/>
                    <a:pt x="836482" y="12122"/>
                    <a:pt x="858060" y="33701"/>
                  </a:cubicBezTo>
                  <a:cubicBezTo>
                    <a:pt x="879639" y="55279"/>
                    <a:pt x="891761" y="84545"/>
                    <a:pt x="891761" y="115061"/>
                  </a:cubicBezTo>
                  <a:lnTo>
                    <a:pt x="891761" y="115061"/>
                  </a:lnTo>
                  <a:cubicBezTo>
                    <a:pt x="891761" y="178608"/>
                    <a:pt x="840246" y="230123"/>
                    <a:pt x="776700" y="230123"/>
                  </a:cubicBezTo>
                  <a:lnTo>
                    <a:pt x="115061" y="230123"/>
                  </a:lnTo>
                  <a:cubicBezTo>
                    <a:pt x="84545" y="230123"/>
                    <a:pt x="55279" y="218000"/>
                    <a:pt x="33701" y="196422"/>
                  </a:cubicBezTo>
                  <a:cubicBezTo>
                    <a:pt x="12122" y="174844"/>
                    <a:pt x="0" y="145577"/>
                    <a:pt x="0" y="115061"/>
                  </a:cubicBezTo>
                  <a:lnTo>
                    <a:pt x="0" y="115061"/>
                  </a:lnTo>
                  <a:cubicBezTo>
                    <a:pt x="0" y="84545"/>
                    <a:pt x="12122" y="55279"/>
                    <a:pt x="33701" y="33701"/>
                  </a:cubicBezTo>
                  <a:cubicBezTo>
                    <a:pt x="55279" y="12122"/>
                    <a:pt x="84545" y="0"/>
                    <a:pt x="11506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91761" cy="268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Clinical AI Tools (e.g., Aidoc, Lunit)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23229" y="2113262"/>
            <a:ext cx="3178001" cy="820096"/>
            <a:chOff x="0" y="0"/>
            <a:chExt cx="891761" cy="2301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1761" cy="230123"/>
            </a:xfrm>
            <a:custGeom>
              <a:avLst/>
              <a:gdLst/>
              <a:ahLst/>
              <a:cxnLst/>
              <a:rect r="r" b="b" t="t" l="l"/>
              <a:pathLst>
                <a:path h="230123" w="891761">
                  <a:moveTo>
                    <a:pt x="115061" y="0"/>
                  </a:moveTo>
                  <a:lnTo>
                    <a:pt x="776700" y="0"/>
                  </a:lnTo>
                  <a:cubicBezTo>
                    <a:pt x="807216" y="0"/>
                    <a:pt x="836482" y="12122"/>
                    <a:pt x="858060" y="33701"/>
                  </a:cubicBezTo>
                  <a:cubicBezTo>
                    <a:pt x="879639" y="55279"/>
                    <a:pt x="891761" y="84545"/>
                    <a:pt x="891761" y="115061"/>
                  </a:cubicBezTo>
                  <a:lnTo>
                    <a:pt x="891761" y="115061"/>
                  </a:lnTo>
                  <a:cubicBezTo>
                    <a:pt x="891761" y="178608"/>
                    <a:pt x="840246" y="230123"/>
                    <a:pt x="776700" y="230123"/>
                  </a:cubicBezTo>
                  <a:lnTo>
                    <a:pt x="115061" y="230123"/>
                  </a:lnTo>
                  <a:cubicBezTo>
                    <a:pt x="84545" y="230123"/>
                    <a:pt x="55279" y="218000"/>
                    <a:pt x="33701" y="196422"/>
                  </a:cubicBezTo>
                  <a:cubicBezTo>
                    <a:pt x="12122" y="174844"/>
                    <a:pt x="0" y="145577"/>
                    <a:pt x="0" y="115061"/>
                  </a:cubicBezTo>
                  <a:lnTo>
                    <a:pt x="0" y="115061"/>
                  </a:lnTo>
                  <a:cubicBezTo>
                    <a:pt x="0" y="84545"/>
                    <a:pt x="12122" y="55279"/>
                    <a:pt x="33701" y="33701"/>
                  </a:cubicBezTo>
                  <a:cubicBezTo>
                    <a:pt x="55279" y="12122"/>
                    <a:pt x="84545" y="0"/>
                    <a:pt x="11506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91761" cy="268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Traditional E-Learning (e.g., Radiopaedia)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871183" y="2412976"/>
            <a:ext cx="34531" cy="6906160"/>
          </a:xfrm>
          <a:custGeom>
            <a:avLst/>
            <a:gdLst/>
            <a:ahLst/>
            <a:cxnLst/>
            <a:rect r="r" b="b" t="t" l="l"/>
            <a:pathLst>
              <a:path h="6906160" w="34531">
                <a:moveTo>
                  <a:pt x="0" y="0"/>
                </a:moveTo>
                <a:lnTo>
                  <a:pt x="34531" y="0"/>
                </a:lnTo>
                <a:lnTo>
                  <a:pt x="34531" y="6906160"/>
                </a:lnTo>
                <a:lnTo>
                  <a:pt x="0" y="690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ysDot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710156" y="3274721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Objective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316" y="4448200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Visualization Modality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8192" y="5433980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Explainability (XAI)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9316" y="6921784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Learning Methodology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9316" y="8095264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Integrity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07382" y="6921784"/>
            <a:ext cx="3437303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Active Loop (Real-time AI Feedback)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07382" y="5591143"/>
            <a:ext cx="3437303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Interactive Saliency Maps (Heatmaps)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07382" y="4413523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Volumetric 3D &amp; AR Overlay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07382" y="3274721"/>
            <a:ext cx="3437303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Dual-Purpose (Diagnostic Support + Pedagogy)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07382" y="8057164"/>
            <a:ext cx="3437303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Real-World Anonymized Case Data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0480" y="8095264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Clinical PACS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0480" y="6921784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None (Read-Only)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0480" y="5591143"/>
            <a:ext cx="3437303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"Black Box" Output (Binary Flags)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00480" y="4413523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2D Slice Viewing (DICOM)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00480" y="3274721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Clinical Efficiency (Triage)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63927" y="8061960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Curated Static Library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63927" y="6764622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Passive (Reading/Observing)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63927" y="5591143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N/A (Human Annotation only)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319387" y="4413523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Static 2D Images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63927" y="3301392"/>
            <a:ext cx="343730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Reference &amp; Case Repository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710876" y="2412976"/>
            <a:ext cx="34531" cy="6906160"/>
          </a:xfrm>
          <a:custGeom>
            <a:avLst/>
            <a:gdLst/>
            <a:ahLst/>
            <a:cxnLst/>
            <a:rect r="r" b="b" t="t" l="l"/>
            <a:pathLst>
              <a:path h="6906160" w="34531">
                <a:moveTo>
                  <a:pt x="0" y="0"/>
                </a:moveTo>
                <a:lnTo>
                  <a:pt x="34531" y="0"/>
                </a:lnTo>
                <a:lnTo>
                  <a:pt x="34531" y="6906160"/>
                </a:lnTo>
                <a:lnTo>
                  <a:pt x="0" y="690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ysDot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9303974" y="2412976"/>
            <a:ext cx="34531" cy="6906160"/>
          </a:xfrm>
          <a:custGeom>
            <a:avLst/>
            <a:gdLst/>
            <a:ahLst/>
            <a:cxnLst/>
            <a:rect r="r" b="b" t="t" l="l"/>
            <a:pathLst>
              <a:path h="6906160" w="34531">
                <a:moveTo>
                  <a:pt x="0" y="0"/>
                </a:moveTo>
                <a:lnTo>
                  <a:pt x="34531" y="0"/>
                </a:lnTo>
                <a:lnTo>
                  <a:pt x="34531" y="6906160"/>
                </a:lnTo>
                <a:lnTo>
                  <a:pt x="0" y="690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ysDot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1271" y="-3708211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11039" y="463618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2157" y="3562102"/>
            <a:ext cx="12712403" cy="6928260"/>
          </a:xfrm>
          <a:custGeom>
            <a:avLst/>
            <a:gdLst/>
            <a:ahLst/>
            <a:cxnLst/>
            <a:rect r="r" b="b" t="t" l="l"/>
            <a:pathLst>
              <a:path h="6928260" w="12712403">
                <a:moveTo>
                  <a:pt x="0" y="0"/>
                </a:moveTo>
                <a:lnTo>
                  <a:pt x="12712403" y="0"/>
                </a:lnTo>
                <a:lnTo>
                  <a:pt x="12712403" y="6928260"/>
                </a:lnTo>
                <a:lnTo>
                  <a:pt x="0" y="6928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99005" y="349013"/>
            <a:ext cx="12476752" cy="182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5"/>
              </a:lnSpc>
            </a:pPr>
            <a:r>
              <a:rPr lang="en-US" sz="711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BUILDING ON A FOUNDATION OF TRUST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0655" y="2213326"/>
            <a:ext cx="13035103" cy="87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4"/>
              </a:lnSpc>
            </a:pP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Ensuring Patient Privacy and Model Integrity through Future Added Cybersecurity Best Practices.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7927" y="3600202"/>
            <a:ext cx="5659877" cy="228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2"/>
              </a:lnSpc>
            </a:pPr>
            <a:r>
              <a:rPr lang="en-US" sz="31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Standards:</a:t>
            </a:r>
            <a:r>
              <a:rPr lang="en-US" sz="3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Future implementation will align with OWASP Top 10 for LLMs to prevent prompt injections and ensure model predictability.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52" t="-48712" r="-39636" b="-5249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90246" y="6860970"/>
            <a:ext cx="5659877" cy="228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2"/>
              </a:lnSpc>
            </a:pPr>
            <a:r>
              <a:rPr lang="en-US" sz="3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framework is designed to utilize anonymized datasets, ensuring that no Personally Identifiable Information (PII) is processed by the AI engine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20763">
            <a:off x="-429086" y="-676113"/>
            <a:ext cx="8987203" cy="4150026"/>
          </a:xfrm>
          <a:custGeom>
            <a:avLst/>
            <a:gdLst/>
            <a:ahLst/>
            <a:cxnLst/>
            <a:rect r="r" b="b" t="t" l="l"/>
            <a:pathLst>
              <a:path h="4150026" w="8987203">
                <a:moveTo>
                  <a:pt x="0" y="0"/>
                </a:moveTo>
                <a:lnTo>
                  <a:pt x="8987203" y="0"/>
                </a:lnTo>
                <a:lnTo>
                  <a:pt x="8987203" y="4150027"/>
                </a:lnTo>
                <a:lnTo>
                  <a:pt x="0" y="4150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2146" y="1213800"/>
            <a:ext cx="14684628" cy="7859399"/>
          </a:xfrm>
          <a:custGeom>
            <a:avLst/>
            <a:gdLst/>
            <a:ahLst/>
            <a:cxnLst/>
            <a:rect r="r" b="b" t="t" l="l"/>
            <a:pathLst>
              <a:path h="7859399" w="14684628">
                <a:moveTo>
                  <a:pt x="0" y="0"/>
                </a:moveTo>
                <a:lnTo>
                  <a:pt x="14684627" y="0"/>
                </a:lnTo>
                <a:lnTo>
                  <a:pt x="14684627" y="7859400"/>
                </a:lnTo>
                <a:lnTo>
                  <a:pt x="0" y="785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025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50717" y="4257922"/>
            <a:ext cx="2965916" cy="6828198"/>
          </a:xfrm>
          <a:custGeom>
            <a:avLst/>
            <a:gdLst/>
            <a:ahLst/>
            <a:cxnLst/>
            <a:rect r="r" b="b" t="t" l="l"/>
            <a:pathLst>
              <a:path h="6828198" w="2965916">
                <a:moveTo>
                  <a:pt x="0" y="0"/>
                </a:moveTo>
                <a:lnTo>
                  <a:pt x="2965917" y="0"/>
                </a:lnTo>
                <a:lnTo>
                  <a:pt x="2965917" y="6828199"/>
                </a:lnTo>
                <a:lnTo>
                  <a:pt x="0" y="682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7017" y="7672021"/>
            <a:ext cx="4171532" cy="3569725"/>
          </a:xfrm>
          <a:custGeom>
            <a:avLst/>
            <a:gdLst/>
            <a:ahLst/>
            <a:cxnLst/>
            <a:rect r="r" b="b" t="t" l="l"/>
            <a:pathLst>
              <a:path h="3569725" w="4171532">
                <a:moveTo>
                  <a:pt x="0" y="0"/>
                </a:moveTo>
                <a:lnTo>
                  <a:pt x="4171532" y="0"/>
                </a:lnTo>
                <a:lnTo>
                  <a:pt x="4171532" y="3569725"/>
                </a:lnTo>
                <a:lnTo>
                  <a:pt x="0" y="35697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1740" y="-4440594"/>
            <a:ext cx="8339294" cy="7136224"/>
          </a:xfrm>
          <a:custGeom>
            <a:avLst/>
            <a:gdLst/>
            <a:ahLst/>
            <a:cxnLst/>
            <a:rect r="r" b="b" t="t" l="l"/>
            <a:pathLst>
              <a:path h="7136224" w="8339294">
                <a:moveTo>
                  <a:pt x="0" y="0"/>
                </a:moveTo>
                <a:lnTo>
                  <a:pt x="8339295" y="0"/>
                </a:lnTo>
                <a:lnTo>
                  <a:pt x="8339295" y="7136224"/>
                </a:lnTo>
                <a:lnTo>
                  <a:pt x="0" y="7136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6713" y="1598737"/>
            <a:ext cx="12545669" cy="78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2"/>
              </a:lnSpc>
            </a:pPr>
            <a:r>
              <a:rPr lang="en-US" sz="5782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Milestones &amp; Global Recognition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6193" y="2743255"/>
            <a:ext cx="12855845" cy="577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3190" indent="-346595" lvl="1">
              <a:lnSpc>
                <a:spcPts val="3050"/>
              </a:lnSpc>
              <a:buFont typeface="Arial"/>
              <a:buChar char="•"/>
            </a:pPr>
            <a:r>
              <a:rPr lang="en-US" b="true" sz="3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IEEE SRC 2026 Selection: </a:t>
            </a:r>
            <a:r>
              <a:rPr lang="en-US" sz="32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core diagnostic methodology was peer-reviewed and accepted for presentation at the IEEE Student Research Conference.</a:t>
            </a:r>
          </a:p>
          <a:p>
            <a:pPr algn="ctr">
              <a:lnSpc>
                <a:spcPts val="3050"/>
              </a:lnSpc>
            </a:pPr>
          </a:p>
          <a:p>
            <a:pPr algn="ctr" marL="693190" indent="-346595" lvl="1">
              <a:lnSpc>
                <a:spcPts val="3050"/>
              </a:lnSpc>
              <a:buFont typeface="Arial"/>
              <a:buChar char="•"/>
            </a:pPr>
            <a:r>
              <a:rPr lang="en-US" b="true" sz="3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Dubai AI Week Feature: </a:t>
            </a:r>
            <a:r>
              <a:rPr lang="en-US" sz="32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Selected as a spotlight prototype for Dubai Medical University (DMU), showcasing the future of AI-augmented medical training.</a:t>
            </a:r>
          </a:p>
          <a:p>
            <a:pPr algn="ctr">
              <a:lnSpc>
                <a:spcPts val="3050"/>
              </a:lnSpc>
            </a:pPr>
          </a:p>
          <a:p>
            <a:pPr algn="ctr" marL="693190" indent="-346595" lvl="1">
              <a:lnSpc>
                <a:spcPts val="3050"/>
              </a:lnSpc>
              <a:buFont typeface="Arial"/>
              <a:buChar char="•"/>
            </a:pPr>
            <a:r>
              <a:rPr lang="en-US" b="true" sz="3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Stakeholder Validation: </a:t>
            </a:r>
            <a:r>
              <a:rPr lang="en-US" sz="32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Successfully tested and calibrated with 36 medical professionals to ensure clinical relevance.</a:t>
            </a:r>
          </a:p>
          <a:p>
            <a:pPr algn="ctr">
              <a:lnSpc>
                <a:spcPts val="3050"/>
              </a:lnSpc>
            </a:pPr>
          </a:p>
          <a:p>
            <a:pPr algn="ctr" marL="693190" indent="-346595" lvl="1">
              <a:lnSpc>
                <a:spcPts val="3050"/>
              </a:lnSpc>
              <a:buFont typeface="Arial"/>
              <a:buChar char="•"/>
            </a:pPr>
            <a:r>
              <a:rPr lang="en-US" b="true" sz="3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Viral Engagement: </a:t>
            </a:r>
            <a:r>
              <a:rPr lang="en-US" sz="321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Generated 30,000+ organic impressions within the medical and tech community, proving high demand for transparent AI.</a:t>
            </a:r>
          </a:p>
          <a:p>
            <a:pPr algn="ctr">
              <a:lnSpc>
                <a:spcPts val="305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52" t="-48712" r="-39636" b="-5249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20763">
            <a:off x="-429086" y="-676113"/>
            <a:ext cx="8987203" cy="4150026"/>
          </a:xfrm>
          <a:custGeom>
            <a:avLst/>
            <a:gdLst/>
            <a:ahLst/>
            <a:cxnLst/>
            <a:rect r="r" b="b" t="t" l="l"/>
            <a:pathLst>
              <a:path h="4150026" w="8987203">
                <a:moveTo>
                  <a:pt x="0" y="0"/>
                </a:moveTo>
                <a:lnTo>
                  <a:pt x="8987203" y="0"/>
                </a:lnTo>
                <a:lnTo>
                  <a:pt x="8987203" y="4150027"/>
                </a:lnTo>
                <a:lnTo>
                  <a:pt x="0" y="4150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2146" y="1213800"/>
            <a:ext cx="14684628" cy="7859399"/>
          </a:xfrm>
          <a:custGeom>
            <a:avLst/>
            <a:gdLst/>
            <a:ahLst/>
            <a:cxnLst/>
            <a:rect r="r" b="b" t="t" l="l"/>
            <a:pathLst>
              <a:path h="7859399" w="14684628">
                <a:moveTo>
                  <a:pt x="0" y="0"/>
                </a:moveTo>
                <a:lnTo>
                  <a:pt x="14684627" y="0"/>
                </a:lnTo>
                <a:lnTo>
                  <a:pt x="14684627" y="7859400"/>
                </a:lnTo>
                <a:lnTo>
                  <a:pt x="0" y="785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025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50717" y="4257922"/>
            <a:ext cx="2965916" cy="6828198"/>
          </a:xfrm>
          <a:custGeom>
            <a:avLst/>
            <a:gdLst/>
            <a:ahLst/>
            <a:cxnLst/>
            <a:rect r="r" b="b" t="t" l="l"/>
            <a:pathLst>
              <a:path h="6828198" w="2965916">
                <a:moveTo>
                  <a:pt x="0" y="0"/>
                </a:moveTo>
                <a:lnTo>
                  <a:pt x="2965917" y="0"/>
                </a:lnTo>
                <a:lnTo>
                  <a:pt x="2965917" y="6828199"/>
                </a:lnTo>
                <a:lnTo>
                  <a:pt x="0" y="682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7017" y="7672021"/>
            <a:ext cx="4171532" cy="3569725"/>
          </a:xfrm>
          <a:custGeom>
            <a:avLst/>
            <a:gdLst/>
            <a:ahLst/>
            <a:cxnLst/>
            <a:rect r="r" b="b" t="t" l="l"/>
            <a:pathLst>
              <a:path h="3569725" w="4171532">
                <a:moveTo>
                  <a:pt x="0" y="0"/>
                </a:moveTo>
                <a:lnTo>
                  <a:pt x="4171532" y="0"/>
                </a:lnTo>
                <a:lnTo>
                  <a:pt x="4171532" y="3569725"/>
                </a:lnTo>
                <a:lnTo>
                  <a:pt x="0" y="35697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1740" y="-4440594"/>
            <a:ext cx="8339294" cy="7136224"/>
          </a:xfrm>
          <a:custGeom>
            <a:avLst/>
            <a:gdLst/>
            <a:ahLst/>
            <a:cxnLst/>
            <a:rect r="r" b="b" t="t" l="l"/>
            <a:pathLst>
              <a:path h="7136224" w="8339294">
                <a:moveTo>
                  <a:pt x="0" y="0"/>
                </a:moveTo>
                <a:lnTo>
                  <a:pt x="8339295" y="0"/>
                </a:lnTo>
                <a:lnTo>
                  <a:pt x="8339295" y="7136224"/>
                </a:lnTo>
                <a:lnTo>
                  <a:pt x="0" y="7136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635" y="309718"/>
            <a:ext cx="1367955" cy="1203293"/>
          </a:xfrm>
          <a:custGeom>
            <a:avLst/>
            <a:gdLst/>
            <a:ahLst/>
            <a:cxnLst/>
            <a:rect r="r" b="b" t="t" l="l"/>
            <a:pathLst>
              <a:path h="1203293" w="1367955">
                <a:moveTo>
                  <a:pt x="0" y="0"/>
                </a:moveTo>
                <a:lnTo>
                  <a:pt x="1367954" y="0"/>
                </a:lnTo>
                <a:lnTo>
                  <a:pt x="1367954" y="1203294"/>
                </a:lnTo>
                <a:lnTo>
                  <a:pt x="0" y="1203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352" t="-48712" r="-39636" b="-5249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38901" y="2343022"/>
            <a:ext cx="12350429" cy="637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Xpert Internal Research (2026). User Experience and Technical Needs for AI-Driven Medical Imaging: A Stakeholder Survey. University of Wollongong in Dubai.</a:t>
            </a:r>
          </a:p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 Health Organization (2026). World Health Statistics 2026: Monitoring Health for the SDGs.</a:t>
            </a:r>
          </a:p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Institute for Health Metrics and Evaluation (IHME) (2025). Global Burden of Disease Study 2023. (Updated February 2026).</a:t>
            </a:r>
          </a:p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Rajpurkar, P., et al. (2017). CheXNet: Radiologist-Level Pneumonia Detection on Chest X-Rays with Deep Learning. arXiv:1711.05225.</a:t>
            </a:r>
          </a:p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Geis, J. R., et al. (2019). Ethics of Artificial Intelligence in Radiology: Summary of the Joint European and North American Multisociety Statement. Radiology.</a:t>
            </a:r>
          </a:p>
          <a:p>
            <a:pPr algn="l" marL="639733" indent="-319867" lvl="1">
              <a:lnSpc>
                <a:spcPts val="2814"/>
              </a:lnSpc>
              <a:buAutoNum type="arabicPeriod" startAt="1"/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Wang, X., et al. (2017). ChestX-ray8: Hospital-scale Chest X-ray Database and Benchmarks on Weakly-Supervised Classification. IEEE CVPR.</a:t>
            </a:r>
          </a:p>
          <a:p>
            <a:pPr algn="l">
              <a:lnSpc>
                <a:spcPts val="28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071692" y="1430968"/>
            <a:ext cx="6144616" cy="86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2"/>
              </a:lnSpc>
            </a:pPr>
            <a:r>
              <a:rPr lang="en-US" sz="600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References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64344" y="5958420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2444" y="-2572817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77897" y="-5779144"/>
            <a:ext cx="14635371" cy="12033527"/>
          </a:xfrm>
          <a:custGeom>
            <a:avLst/>
            <a:gdLst/>
            <a:ahLst/>
            <a:cxnLst/>
            <a:rect r="r" b="b" t="t" l="l"/>
            <a:pathLst>
              <a:path h="12033527" w="14635371">
                <a:moveTo>
                  <a:pt x="0" y="0"/>
                </a:moveTo>
                <a:lnTo>
                  <a:pt x="14635371" y="0"/>
                </a:lnTo>
                <a:lnTo>
                  <a:pt x="14635371" y="12033528"/>
                </a:lnTo>
                <a:lnTo>
                  <a:pt x="0" y="1203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5996" y="5507733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702" y="2582224"/>
            <a:ext cx="7747874" cy="32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6"/>
              </a:lnSpc>
            </a:pPr>
            <a:r>
              <a:rPr lang="en-US" sz="18833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95996" y="7317810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71515" y="-3149182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06557">
            <a:off x="13859100" y="1432047"/>
            <a:ext cx="4433872" cy="4665492"/>
          </a:xfrm>
          <a:custGeom>
            <a:avLst/>
            <a:gdLst/>
            <a:ahLst/>
            <a:cxnLst/>
            <a:rect r="r" b="b" t="t" l="l"/>
            <a:pathLst>
              <a:path h="4665492" w="4433872">
                <a:moveTo>
                  <a:pt x="0" y="0"/>
                </a:moveTo>
                <a:lnTo>
                  <a:pt x="4433873" y="0"/>
                </a:lnTo>
                <a:lnTo>
                  <a:pt x="4433873" y="4665493"/>
                </a:lnTo>
                <a:lnTo>
                  <a:pt x="0" y="4665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77897" y="2433562"/>
            <a:ext cx="8117004" cy="7049716"/>
          </a:xfrm>
          <a:custGeom>
            <a:avLst/>
            <a:gdLst/>
            <a:ahLst/>
            <a:cxnLst/>
            <a:rect r="r" b="b" t="t" l="l"/>
            <a:pathLst>
              <a:path h="7049716" w="8117004">
                <a:moveTo>
                  <a:pt x="0" y="0"/>
                </a:moveTo>
                <a:lnTo>
                  <a:pt x="8117004" y="0"/>
                </a:lnTo>
                <a:lnTo>
                  <a:pt x="8117004" y="7049716"/>
                </a:lnTo>
                <a:lnTo>
                  <a:pt x="0" y="7049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DAHGuyO5Sfw</dc:identifier>
  <dcterms:modified xsi:type="dcterms:W3CDTF">2011-08-01T06:04:30Z</dcterms:modified>
  <cp:revision>1</cp:revision>
  <dc:title>Innovation Fair - Xpert</dc:title>
</cp:coreProperties>
</file>